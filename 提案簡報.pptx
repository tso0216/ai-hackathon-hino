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5.png"/><Relationship Id="rId6" Type="http://schemas.openxmlformats.org/officeDocument/2006/relationships/image" Target="../media/image-12-5.png"/><Relationship Id="rId7" Type="http://schemas.openxmlformats.org/officeDocument/2006/relationships/image" Target="../media/image-12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entso-developer-AI-Hackathon-HINO/a56bb6a9-f83a-48da-8d61-bd3b228250b5/scratchpad/deck/assets/cover_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96112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89611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 和泰 AI 黑客松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7276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企業挑戰題目｜HINO x GenAI：商用車頭家的智慧夥伴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12064" y="201168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HINO Pilot</a:t>
            </a:r>
            <a:endParaRPr lang="en-US" sz="6400" dirty="0"/>
          </a:p>
        </p:txBody>
      </p:sp>
      <p:sp>
        <p:nvSpPr>
          <p:cNvPr id="7" name="Shape 4"/>
          <p:cNvSpPr/>
          <p:nvPr/>
        </p:nvSpPr>
        <p:spPr>
          <a:xfrm>
            <a:off x="548640" y="3273552"/>
            <a:ext cx="914400" cy="64008"/>
          </a:xfrm>
          <a:prstGeom prst="rect">
            <a:avLst/>
          </a:prstGeom>
          <a:solidFill>
            <a:srgbClr val="C8261C"/>
          </a:solidFill>
          <a:ln w="12700">
            <a:solidFill>
              <a:srgbClr val="C8261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611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9C1C1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車隊老闆的 AI 經營夥伴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06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團隊名稱：（待填）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提案摘要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2743200" y="411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本頁不計入提案簡報 15 頁限制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團隊名稱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（待填）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產品/服務名稱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HINO Pilot（iTRAQ 車隊經營 AI 夥伴）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企業挑戰題目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題目四｜HINO x GenAI：運用商用車車聯網大數據，發展商用車頭家的智慧夥伴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目標對象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擁有 5–50 台車的中小型貨運車隊老闆與調度（次要使用者：第一線司機）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解決方案設計重點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（至多 3 項）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1. AI 晨報與預警：每天挑出先處理的 3 件事，延誤、工時超標前先提醒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2. 問 AI：用口語提問，AI 查 iTRAQ 數據後回答，並附資料來源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3. AI 節能與安全教練：同車型公平評分，找出多耗的油，教司機怎麼改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運用到的 AI 技術、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服務或模型等資源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GPT-6 Luna（tool calling 查數據）、LightGBM 延誤預測、統計歸因與異常偵測、RAG（法規與 iTRAQ 手冊）、LINE Messaging API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預期效益簡述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油耗約 −6%（20 台車一年約省 NT$35 萬）；超速與急煞事件 −10～20%；工時違規目標為 0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 提案概述</a:t>
            </a:r>
            <a:pPr indent="0" marL="0">
              <a:buNone/>
            </a:pPr>
            <a:r>
              <a:rPr lang="en-US" sz="2500" dirty="0">
                <a:solidFill>
                  <a:srgbClr val="C9CDD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｜  </a:t>
            </a:r>
            <a:pPr indent="0" marL="0">
              <a:buNone/>
            </a:pPr>
            <a:r>
              <a:rPr lang="en-US" sz="2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要解決的問題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HINO Pilot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12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iTRAQ 數據變成老闆看得懂、做得到的建議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89320" y="1481328"/>
            <a:ext cx="13716" cy="1097280"/>
          </a:xfrm>
          <a:prstGeom prst="rect">
            <a:avLst/>
          </a:prstGeom>
          <a:solidFill>
            <a:srgbClr val="E2C9C5"/>
          </a:solidFill>
          <a:ln w="12700">
            <a:solidFill>
              <a:srgbClr val="E2C9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核心價值主張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8105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老闆</a:t>
            </a:r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｜不用翻報表，AI 告訴你先處理什麼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2677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司機</a:t>
            </a:r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｜知道自己哪裡要改、怎麼改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三個核心痛點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3545738" cy="2331720"/>
          </a:xfrm>
          <a:prstGeom prst="roundRect">
            <a:avLst>
              <a:gd name="adj" fmla="val 392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資訊痛點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480560"/>
            <a:ext cx="29970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資訊分散</a:t>
            </a:r>
            <a:endParaRPr lang="en-US" sz="2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老闆要自己拼湊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41324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位置、油耗、事件分在不同頁面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22978" y="3566160"/>
            <a:ext cx="3545738" cy="2331720"/>
          </a:xfrm>
          <a:prstGeom prst="roundRect">
            <a:avLst>
              <a:gd name="adj" fmla="val 392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7298" y="3840480"/>
            <a:ext cx="457200" cy="45720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729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191658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判斷痛點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97298" y="4480560"/>
            <a:ext cx="29970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有數字</a:t>
            </a:r>
            <a:endParaRPr lang="en-US" sz="2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沒有判斷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4597298" y="541324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不知道哪裡異常、為什麼、先做什麼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97317" y="3566160"/>
            <a:ext cx="3545738" cy="2331720"/>
          </a:xfrm>
          <a:prstGeom prst="roundRect">
            <a:avLst>
              <a:gd name="adj" fmla="val 392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71637" y="3840480"/>
            <a:ext cx="457200" cy="45720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71637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965997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時機痛點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371637" y="4480560"/>
            <a:ext cx="29970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問題總在</a:t>
            </a:r>
            <a:endParaRPr lang="en-US" sz="2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事後才發現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8371637" y="541324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延誤、違規、客訴都是發生後才知道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 提案概述</a:t>
            </a:r>
            <a:pPr indent="0" marL="0">
              <a:buNone/>
            </a:pPr>
            <a:r>
              <a:rPr lang="en-US" sz="2500" dirty="0">
                <a:solidFill>
                  <a:srgbClr val="C9CDD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｜  </a:t>
            </a:r>
            <a:pPr indent="0" marL="0">
              <a:buNone/>
            </a:pPr>
            <a:r>
              <a:rPr lang="en-US" sz="2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解法與目標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2154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4475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44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總覽・配送・合規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21408"/>
            <a:ext cx="22363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晨報與預警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23744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每天挑出 3 件事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問題發生前先提醒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79394" y="1234440"/>
            <a:ext cx="2602154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7994" y="1444752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994" y="144475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查詢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607994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07994" y="2121408"/>
            <a:ext cx="22363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 AI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07994" y="2523744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用說的問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查數據回答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0148" y="1234440"/>
            <a:ext cx="2602154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8748" y="14447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8748" y="14447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省油・安全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38748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 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38748" y="2121408"/>
            <a:ext cx="22363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節能安全教練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38748" y="2523744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找出多耗的油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教司機怎麼改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40901" y="1234440"/>
            <a:ext cx="2602154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69501" y="14447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69501" y="14447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獎金・客訴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269501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 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269501" y="2121408"/>
            <a:ext cx="22363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月報與客訴助理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269501" y="2523744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績效、獎金、客訴回覆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先擬好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運作方式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767328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C9C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767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1C1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iTRAQ 車聯網數據</a:t>
            </a:r>
            <a:endParaRPr lang="en-US" sz="1300" dirty="0"/>
          </a:p>
        </p:txBody>
      </p:sp>
      <p:pic>
        <p:nvPicPr>
          <p:cNvPr id="30" name="Image 0" descr="/private/tmp/claude-501/-Users-yentso-developer-AI-Hackathon-HINO/a56bb6a9-f83a-48da-8d61-bd3b228250b5/scratchpad/deck/assets/i_arrow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6933" y="3867912"/>
            <a:ext cx="256032" cy="256032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3469538" y="3767328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C9C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69538" y="3767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1C1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分析引擎算數字</a:t>
            </a:r>
            <a:endParaRPr lang="en-US" sz="1300" dirty="0"/>
          </a:p>
        </p:txBody>
      </p:sp>
      <p:pic>
        <p:nvPicPr>
          <p:cNvPr id="33" name="Image 1" descr="/private/tmp/claude-501/-Users-yentso-developer-AI-Hackathon-HINO/a56bb6a9-f83a-48da-8d61-bd3b228250b5/scratchpad/deck/assets/i_arrow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832" y="3867912"/>
            <a:ext cx="256032" cy="256032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390437" y="3767328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390437" y="3767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解釋與建議</a:t>
            </a:r>
            <a:endParaRPr lang="en-US" sz="1300" dirty="0"/>
          </a:p>
        </p:txBody>
      </p:sp>
      <p:pic>
        <p:nvPicPr>
          <p:cNvPr id="36" name="Image 2" descr="/private/tmp/claude-501/-Users-yentso-developer-AI-Hackathon-HINO/a56bb6a9-f83a-48da-8d61-bd3b228250b5/scratchpad/deck/assets/i_arrow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730" y="3867912"/>
            <a:ext cx="256032" cy="256032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9311335" y="3767328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C9C5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9311335" y="3767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1C1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儀表板＋LINE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548640" y="43159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數字一律由分析引擎計算，AI 只負責解釋與建議，避免 AI 編造數據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54864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目標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548640" y="5394960"/>
            <a:ext cx="2602154" cy="777240"/>
          </a:xfrm>
          <a:prstGeom prst="roundRect">
            <a:avLst>
              <a:gd name="adj" fmla="val 11765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49808" y="5550408"/>
            <a:ext cx="475488" cy="475488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43" name="Image 3" descr="/private/tmp/claude-501/-Users-yentso-developer-AI-Hackathon-HINO/a56bb6a9-f83a-48da-8d61-bd3b228250b5/scratchpad/deck/assets/i_fuel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25" y="5664525"/>
            <a:ext cx="247254" cy="247254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1389888" y="5394960"/>
            <a:ext cx="16877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省油</a:t>
            </a:r>
            <a:endParaRPr lang="en-US" sz="1700" dirty="0"/>
          </a:p>
        </p:txBody>
      </p:sp>
      <p:sp>
        <p:nvSpPr>
          <p:cNvPr id="45" name="Shape 39"/>
          <p:cNvSpPr/>
          <p:nvPr/>
        </p:nvSpPr>
        <p:spPr>
          <a:xfrm>
            <a:off x="3379394" y="5394960"/>
            <a:ext cx="2602154" cy="777240"/>
          </a:xfrm>
          <a:prstGeom prst="roundRect">
            <a:avLst>
              <a:gd name="adj" fmla="val 11765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3580562" y="5550408"/>
            <a:ext cx="475488" cy="475488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47" name="Image 4" descr="/private/tmp/claude-501/-Users-yentso-developer-AI-Hackathon-HINO/a56bb6a9-f83a-48da-8d61-bd3b228250b5/scratchpad/deck/assets/i_shiel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679" y="5664525"/>
            <a:ext cx="247254" cy="247254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4220642" y="5394960"/>
            <a:ext cx="16877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安全</a:t>
            </a:r>
            <a:endParaRPr lang="en-US" sz="1700" dirty="0"/>
          </a:p>
        </p:txBody>
      </p:sp>
      <p:sp>
        <p:nvSpPr>
          <p:cNvPr id="49" name="Shape 42"/>
          <p:cNvSpPr/>
          <p:nvPr/>
        </p:nvSpPr>
        <p:spPr>
          <a:xfrm>
            <a:off x="6210148" y="5394960"/>
            <a:ext cx="2602154" cy="777240"/>
          </a:xfrm>
          <a:prstGeom prst="roundRect">
            <a:avLst>
              <a:gd name="adj" fmla="val 11765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6411316" y="5550408"/>
            <a:ext cx="475488" cy="475488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51" name="Image 5" descr="/private/tmp/claude-501/-Users-yentso-developer-AI-Hackathon-HINO/a56bb6a9-f83a-48da-8d61-bd3b228250b5/scratchpad/deck/assets/i_rout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5433" y="5664525"/>
            <a:ext cx="247254" cy="247254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7051396" y="5394960"/>
            <a:ext cx="16877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準時</a:t>
            </a:r>
            <a:endParaRPr lang="en-US" sz="1700" dirty="0"/>
          </a:p>
        </p:txBody>
      </p:sp>
      <p:sp>
        <p:nvSpPr>
          <p:cNvPr id="53" name="Shape 45"/>
          <p:cNvSpPr/>
          <p:nvPr/>
        </p:nvSpPr>
        <p:spPr>
          <a:xfrm>
            <a:off x="9040901" y="5394960"/>
            <a:ext cx="2602154" cy="777240"/>
          </a:xfrm>
          <a:prstGeom prst="roundRect">
            <a:avLst>
              <a:gd name="adj" fmla="val 11765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9242069" y="5550408"/>
            <a:ext cx="475488" cy="475488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55" name="Image 6" descr="/private/tmp/claude-501/-Users-yentso-developer-AI-Hackathon-HINO/a56bb6a9-f83a-48da-8d61-bd3b228250b5/scratchpad/deck/assets/i_dash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6187" y="5664525"/>
            <a:ext cx="247254" cy="247254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9882149" y="5394960"/>
            <a:ext cx="16877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管理省時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2. 目標對象與痛點分析</a:t>
            </a:r>
            <a:pPr indent="0" marL="0">
              <a:buNone/>
            </a:pPr>
            <a:r>
              <a:rPr lang="en-US" sz="2500" dirty="0">
                <a:solidFill>
                  <a:srgbClr val="C9CDD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｜  </a:t>
            </a:r>
            <a:pPr indent="0" marL="0">
              <a:buNone/>
            </a:pPr>
            <a:r>
              <a:rPr lang="en-US" sz="2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使用者與情境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使用者輪廓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79476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81812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改善後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971800" cy="461772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10512"/>
            <a:ext cx="566928" cy="566928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8" name="Image 0" descr="/private/tmp/claude-501/-Users-yentso-developer-AI-Hackathon-HINO/a56bb6a9-f83a-48da-8d61-bd3b228250b5/scratchpad/deck/assets/i_user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1946575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5420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中小型貨運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車隊老闆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規模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7764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5–50 台車，常兼調度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142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型態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3982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白天跑客戶，多用手機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764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在意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0200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油錢、罰單、準時、客訴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385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次要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6418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調度人員、第一線司機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794760" y="1554480"/>
            <a:ext cx="3657600" cy="1033272"/>
          </a:xfrm>
          <a:prstGeom prst="roundRect">
            <a:avLst>
              <a:gd name="adj" fmla="val 885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977640" y="1865376"/>
            <a:ext cx="402336" cy="402336"/>
          </a:xfrm>
          <a:prstGeom prst="ellipse">
            <a:avLst/>
          </a:prstGeom>
          <a:solidFill>
            <a:srgbClr val="2B3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77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526280" y="1554480"/>
            <a:ext cx="2834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通知一天上百則，分不出輕重</a:t>
            </a:r>
            <a:endParaRPr lang="en-US" sz="1400" dirty="0"/>
          </a:p>
        </p:txBody>
      </p:sp>
      <p:pic>
        <p:nvPicPr>
          <p:cNvPr id="22" name="Image 1" descr="/private/tmp/claude-501/-Users-yentso-developer-AI-Hackathon-HINO/a56bb6a9-f83a-48da-8d61-bd3b228250b5/scratchpad/deck/assets/i_arrow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4" y="1938528"/>
            <a:ext cx="256032" cy="25603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818120" y="1554480"/>
            <a:ext cx="3824935" cy="1033272"/>
          </a:xfrm>
          <a:prstGeom prst="roundRect">
            <a:avLst>
              <a:gd name="adj" fmla="val 8850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04672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挑出今天先處理的 3 件事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8046720" y="2130552"/>
            <a:ext cx="2107692" cy="292608"/>
          </a:xfrm>
          <a:prstGeom prst="roundRect">
            <a:avLst>
              <a:gd name="adj" fmla="val 50000"/>
            </a:avLst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046720" y="2130552"/>
            <a:ext cx="2107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解法 1｜AI 晨報與預警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794760" y="2734056"/>
            <a:ext cx="3657600" cy="1033272"/>
          </a:xfrm>
          <a:prstGeom prst="roundRect">
            <a:avLst>
              <a:gd name="adj" fmla="val 885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977640" y="3044952"/>
            <a:ext cx="402336" cy="402336"/>
          </a:xfrm>
          <a:prstGeom prst="ellipse">
            <a:avLst/>
          </a:prstGeom>
          <a:solidFill>
            <a:srgbClr val="2B3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97764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526280" y="2734056"/>
            <a:ext cx="2834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想知道誰該關心，要逐頁翻報表</a:t>
            </a:r>
            <a:endParaRPr lang="en-US" sz="1400" dirty="0"/>
          </a:p>
        </p:txBody>
      </p:sp>
      <p:pic>
        <p:nvPicPr>
          <p:cNvPr id="31" name="Image 2" descr="/private/tmp/claude-501/-Users-yentso-developer-AI-Hackathon-HINO/a56bb6a9-f83a-48da-8d61-bd3b228250b5/scratchpad/deck/assets/i_arrow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3118104"/>
            <a:ext cx="256032" cy="256032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7818120" y="2734056"/>
            <a:ext cx="3824935" cy="1033272"/>
          </a:xfrm>
          <a:prstGeom prst="roundRect">
            <a:avLst>
              <a:gd name="adj" fmla="val 8850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046720" y="28895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用說的問，AI 查數據回答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8046720" y="3310128"/>
            <a:ext cx="1613916" cy="292608"/>
          </a:xfrm>
          <a:prstGeom prst="roundRect">
            <a:avLst>
              <a:gd name="adj" fmla="val 50000"/>
            </a:avLst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046720" y="3310128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解法 2｜問 AI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3794760" y="3913632"/>
            <a:ext cx="3657600" cy="1033272"/>
          </a:xfrm>
          <a:prstGeom prst="roundRect">
            <a:avLst>
              <a:gd name="adj" fmla="val 885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3977640" y="4224528"/>
            <a:ext cx="402336" cy="402336"/>
          </a:xfrm>
          <a:prstGeom prst="ellipse">
            <a:avLst/>
          </a:prstGeom>
          <a:solidFill>
            <a:srgbClr val="2B3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397764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4526280" y="3913632"/>
            <a:ext cx="2834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同型車油耗差近兩倍，不知原因</a:t>
            </a:r>
            <a:endParaRPr lang="en-US" sz="1400" dirty="0"/>
          </a:p>
        </p:txBody>
      </p:sp>
      <p:pic>
        <p:nvPicPr>
          <p:cNvPr id="40" name="Image 3" descr="/private/tmp/claude-501/-Users-yentso-developer-AI-Hackathon-HINO/a56bb6a9-f83a-48da-8d61-bd3b228250b5/scratchpad/deck/assets/i_arrow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4297680"/>
            <a:ext cx="256032" cy="256032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7818120" y="3913632"/>
            <a:ext cx="3824935" cy="1033272"/>
          </a:xfrm>
          <a:prstGeom prst="roundRect">
            <a:avLst>
              <a:gd name="adj" fmla="val 8850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8046720" y="4069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拆出多耗的油，教司機怎麼改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8046720" y="4489704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046720" y="448970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解法 3｜AI 節能安全教練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3794760" y="5093208"/>
            <a:ext cx="3657600" cy="1033272"/>
          </a:xfrm>
          <a:prstGeom prst="roundRect">
            <a:avLst>
              <a:gd name="adj" fmla="val 885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3977640" y="5404104"/>
            <a:ext cx="402336" cy="402336"/>
          </a:xfrm>
          <a:prstGeom prst="ellipse">
            <a:avLst/>
          </a:prstGeom>
          <a:solidFill>
            <a:srgbClr val="2B3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3977640" y="5404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Text 42"/>
          <p:cNvSpPr txBox="1"/>
          <p:nvPr/>
        </p:nvSpPr>
        <p:spPr>
          <a:xfrm>
            <a:off x="4526280" y="5093208"/>
            <a:ext cx="2834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月底手算獎金；客訴要調紀錄</a:t>
            </a:r>
            <a:endParaRPr lang="en-US" sz="1400" dirty="0"/>
          </a:p>
        </p:txBody>
      </p:sp>
      <p:pic>
        <p:nvPicPr>
          <p:cNvPr id="49" name="Image 4" descr="/private/tmp/claude-501/-Users-yentso-developer-AI-Hackathon-HINO/a56bb6a9-f83a-48da-8d61-bd3b228250b5/scratchpad/deck/assets/i_arrow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4" y="5477256"/>
            <a:ext cx="256032" cy="256032"/>
          </a:xfrm>
          <a:prstGeom prst="rect">
            <a:avLst/>
          </a:prstGeom>
        </p:spPr>
      </p:pic>
      <p:sp>
        <p:nvSpPr>
          <p:cNvPr id="50" name="Shape 43"/>
          <p:cNvSpPr/>
          <p:nvPr/>
        </p:nvSpPr>
        <p:spPr>
          <a:xfrm>
            <a:off x="7818120" y="5093208"/>
            <a:ext cx="3824935" cy="1033272"/>
          </a:xfrm>
          <a:prstGeom prst="roundRect">
            <a:avLst>
              <a:gd name="adj" fmla="val 8850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8046720" y="52486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寫月報、擬好客訴回覆</a:t>
            </a:r>
            <a:endParaRPr lang="en-US" sz="1500" dirty="0"/>
          </a:p>
        </p:txBody>
      </p:sp>
      <p:sp>
        <p:nvSpPr>
          <p:cNvPr id="52" name="Shape 45"/>
          <p:cNvSpPr/>
          <p:nvPr/>
        </p:nvSpPr>
        <p:spPr>
          <a:xfrm>
            <a:off x="8046720" y="5669280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8046720" y="5669280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解法 4｜月報與客訴助理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2. 目標對象與痛點分析</a:t>
            </a:r>
            <a:pPr indent="0" marL="0">
              <a:buNone/>
            </a:pPr>
            <a:r>
              <a:rPr lang="en-US" sz="2500" dirty="0">
                <a:solidFill>
                  <a:srgbClr val="C9CDD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｜  </a:t>
            </a:r>
            <a:pPr indent="0" marL="0">
              <a:buNone/>
            </a:pPr>
            <a:r>
              <a:rPr lang="en-US" sz="2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競賽資料驗證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45738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 / 20 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怠速超過引擎運轉時間的 1/3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1343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全隊約 7% 的油燒在原地怠速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234440"/>
            <a:ext cx="3545738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7298" y="137160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86%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97298" y="201168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未繫安全帶事件集中在 4 台車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97298" y="231343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問題集中，卻埋在大量通知裡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97317" y="1234440"/>
            <a:ext cx="3545738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71637" y="137160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16 車日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371637" y="201168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單日駕駛超過 10 小時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371637" y="231343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 2026/5/8 工時新規回溯檢視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11094415" cy="3246120"/>
          </a:xfrm>
          <a:prstGeom prst="roundRect">
            <a:avLst>
              <a:gd name="adj" fmla="val 281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2004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+70%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同車型油耗差距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6817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HINO 300 共 10 台，最耗油的 ABC-1999 達 25.6 L/100km，比中位數 15.1 高 70%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HINO 300 各車油耗（L/100km，2025/1–11）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4611741"/>
            <a:ext cx="438912" cy="966099"/>
          </a:xfrm>
          <a:prstGeom prst="rect">
            <a:avLst/>
          </a:prstGeom>
          <a:solidFill>
            <a:srgbClr val="CDD2D9"/>
          </a:solidFill>
          <a:ln w="12700">
            <a:solidFill>
              <a:srgbClr val="CDD2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4355709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13.4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56327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ABC-5979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27192" y="4575693"/>
            <a:ext cx="438912" cy="1002147"/>
          </a:xfrm>
          <a:prstGeom prst="rect">
            <a:avLst/>
          </a:prstGeom>
          <a:solidFill>
            <a:srgbClr val="CDD2D9"/>
          </a:solidFill>
          <a:ln w="12700">
            <a:solidFill>
              <a:srgbClr val="CDD2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44312" y="4319661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13.9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544312" y="56327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ABC-2650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79464" y="4561273"/>
            <a:ext cx="438912" cy="1016567"/>
          </a:xfrm>
          <a:prstGeom prst="rect">
            <a:avLst/>
          </a:prstGeom>
          <a:solidFill>
            <a:srgbClr val="CDD2D9"/>
          </a:solidFill>
          <a:ln w="12700">
            <a:solidFill>
              <a:srgbClr val="CDD2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96584" y="4305241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14.1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196584" y="56327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ABC-9818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31736" y="4518015"/>
            <a:ext cx="438912" cy="1059825"/>
          </a:xfrm>
          <a:prstGeom prst="rect">
            <a:avLst/>
          </a:prstGeom>
          <a:solidFill>
            <a:srgbClr val="CDD2D9"/>
          </a:solidFill>
          <a:ln w="12700">
            <a:solidFill>
              <a:srgbClr val="CDD2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48856" y="4261983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14.7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48856" y="56327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ABC-1507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684008" y="4496386"/>
            <a:ext cx="438912" cy="1081454"/>
          </a:xfrm>
          <a:prstGeom prst="rect">
            <a:avLst/>
          </a:prstGeom>
          <a:solidFill>
            <a:srgbClr val="CDD2D9"/>
          </a:solidFill>
          <a:ln w="12700">
            <a:solidFill>
              <a:srgbClr val="CDD2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01128" y="424035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15.0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501128" y="56327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ABC-2713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336280" y="4489176"/>
            <a:ext cx="438912" cy="1088664"/>
          </a:xfrm>
          <a:prstGeom prst="rect">
            <a:avLst/>
          </a:prstGeom>
          <a:solidFill>
            <a:srgbClr val="CDD2D9"/>
          </a:solidFill>
          <a:ln w="12700">
            <a:solidFill>
              <a:srgbClr val="CDD2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53400" y="423314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15.1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153400" y="56327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ABC-1926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988552" y="4474757"/>
            <a:ext cx="438912" cy="1103083"/>
          </a:xfrm>
          <a:prstGeom prst="rect">
            <a:avLst/>
          </a:prstGeom>
          <a:solidFill>
            <a:srgbClr val="CDD2D9"/>
          </a:solidFill>
          <a:ln w="12700">
            <a:solidFill>
              <a:srgbClr val="CDD2D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05672" y="4218725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15.3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805672" y="56327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ABC-2037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640824" y="4467547"/>
            <a:ext cx="438912" cy="1110293"/>
          </a:xfrm>
          <a:prstGeom prst="rect">
            <a:avLst/>
          </a:prstGeom>
          <a:solidFill>
            <a:srgbClr val="CDD2D9"/>
          </a:solidFill>
          <a:ln w="12700">
            <a:solidFill>
              <a:srgbClr val="CDD2D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457944" y="4211515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15.4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457944" y="56327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ABC-7569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293096" y="4272886"/>
            <a:ext cx="438912" cy="1304954"/>
          </a:xfrm>
          <a:prstGeom prst="rect">
            <a:avLst/>
          </a:prstGeom>
          <a:solidFill>
            <a:srgbClr val="CDD2D9"/>
          </a:solidFill>
          <a:ln w="12700">
            <a:solidFill>
              <a:srgbClr val="CDD2D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110216" y="401685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18.1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10110216" y="56327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ABC-6325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945368" y="3732159"/>
            <a:ext cx="438912" cy="1845681"/>
          </a:xfrm>
          <a:prstGeom prst="rect">
            <a:avLst/>
          </a:prstGeom>
          <a:solidFill>
            <a:srgbClr val="C8261C"/>
          </a:solidFill>
          <a:ln w="12700">
            <a:solidFill>
              <a:srgbClr val="C8261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762488" y="3476127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25.6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0762488" y="56327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ABC-1999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83480" y="5577840"/>
            <a:ext cx="6492240" cy="0"/>
          </a:xfrm>
          <a:prstGeom prst="line">
            <a:avLst/>
          </a:prstGeom>
          <a:noFill/>
          <a:ln w="12700">
            <a:solidFill>
              <a:srgbClr val="B8BEC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83480" y="4489176"/>
            <a:ext cx="649224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dash"/>
          </a:ln>
        </p:spPr>
      </p:sp>
      <p:sp>
        <p:nvSpPr>
          <p:cNvPr id="52" name="Text 50"/>
          <p:cNvSpPr txBox="1"/>
          <p:nvPr/>
        </p:nvSpPr>
        <p:spPr>
          <a:xfrm>
            <a:off x="4023360" y="426972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中位數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15.1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32764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資料來源：HINO iTRAQ 競賽資料（2025/1–11，20 台車）團隊分析。油耗以 CAN 累計油耗與里程差計算；工時以「行駛中」狀態累計，屬車輛層級。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3. 解決方案設計</a:t>
            </a:r>
            <a:pPr indent="0" marL="0">
              <a:buNone/>
            </a:pPr>
            <a:r>
              <a:rPr lang="en-US" sz="2500" dirty="0">
                <a:solidFill>
                  <a:srgbClr val="C9CDD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｜  </a:t>
            </a:r>
            <a:pPr indent="0" marL="0">
              <a:buNone/>
            </a:pPr>
            <a:r>
              <a:rPr lang="en-US" sz="2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 1　AI 晨報與預警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686239" y="457200"/>
            <a:ext cx="1956816" cy="438912"/>
          </a:xfrm>
          <a:prstGeom prst="roundRect">
            <a:avLst>
              <a:gd name="adj" fmla="val 50000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50247" y="493776"/>
            <a:ext cx="365760" cy="365760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5" name="Image 0" descr="/private/tmp/claude-501/-Users-yentso-developer-AI-Hackathon-HINO/a56bb6a9-f83a-48da-8d61-bd3b228250b5/scratchpad/deck/assets/i_bell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030" y="581558"/>
            <a:ext cx="190195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161727" y="45720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1C1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總覽・配送・合規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2B313A"/>
          </a:solidFill>
          <a:ln w="9525">
            <a:solidFill>
              <a:srgbClr val="2B31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34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怎麼做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755648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1984248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298448" y="195681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挑出重點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98448" y="23774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依金額與風險，排出今天先處理的 3 件事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218688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3447288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34198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預測延誤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98448" y="38404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依路段車速與天氣，算出會晚到多久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681728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" y="4910328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4910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98448" y="488289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事前提醒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298448" y="53035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延誤、工時快超標，先推到老闆 LINE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886200" y="1234440"/>
            <a:ext cx="7756855" cy="4910328"/>
          </a:xfrm>
          <a:prstGeom prst="roundRect">
            <a:avLst>
              <a:gd name="adj" fmla="val 186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632764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畫面為 Demo 實機截圖；司機姓名、任務、客訴與準點率為模擬資料，車輛數據來自 HINO iTRAQ 競賽資料。</a:t>
            </a:r>
            <a:endParaRPr lang="en-US" sz="950" dirty="0"/>
          </a:p>
        </p:txBody>
      </p:sp>
      <p:pic>
        <p:nvPicPr>
          <p:cNvPr id="26" name="Image 1" descr="/private/tmp/claude-501/-Users-yentso-developer-AI-Hackathon-HINO/a56bb6a9-f83a-48da-8d61-bd3b228250b5/scratchpad/deck/assets/m_bri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680" y="1703680"/>
            <a:ext cx="3770680" cy="2635815"/>
          </a:xfrm>
          <a:prstGeom prst="rect">
            <a:avLst/>
          </a:prstGeom>
        </p:spPr>
      </p:pic>
      <p:pic>
        <p:nvPicPr>
          <p:cNvPr id="27" name="Image 2" descr="/private/tmp/claude-501/-Users-yentso-developer-AI-Hackathon-HINO/a56bb6a9-f83a-48da-8d61-bd3b228250b5/scratchpad/deck/assets/m_deliv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141" y="3156589"/>
            <a:ext cx="3827519" cy="2802095"/>
          </a:xfrm>
          <a:prstGeom prst="rect">
            <a:avLst/>
          </a:prstGeom>
        </p:spPr>
      </p:pic>
      <p:pic>
        <p:nvPicPr>
          <p:cNvPr id="28" name="Image 3" descr="/private/tmp/claude-501/-Users-yentso-developer-AI-Hackathon-HINO/a56bb6a9-f83a-48da-8d61-bd3b228250b5/scratchpad/deck/assets/m_line_brie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2261" y="1296709"/>
            <a:ext cx="2492356" cy="452975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050792" y="1746504"/>
            <a:ext cx="365760" cy="36576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050792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330952" y="3182112"/>
            <a:ext cx="365760" cy="36576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330952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9217152" y="1572768"/>
            <a:ext cx="365760" cy="36576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9217152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4160520" y="427838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儀表板晨報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5440680" y="5878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延誤預測：晚到 46 分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9326880" y="5715000"/>
            <a:ext cx="2123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晨報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3. 解決方案設計</a:t>
            </a:r>
            <a:pPr indent="0" marL="0">
              <a:buNone/>
            </a:pPr>
            <a:r>
              <a:rPr lang="en-US" sz="2500" dirty="0">
                <a:solidFill>
                  <a:srgbClr val="C9CDD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｜  </a:t>
            </a:r>
            <a:pPr indent="0" marL="0">
              <a:buNone/>
            </a:pPr>
            <a:r>
              <a:rPr lang="en-US" sz="2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 2　問 AI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728655" y="457200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92663" y="493776"/>
            <a:ext cx="365760" cy="365760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5" name="Image 0" descr="/private/tmp/claude-501/-Users-yentso-developer-AI-Hackathon-HINO/a56bb6a9-f83a-48da-8d61-bd3b228250b5/scratchpad/deck/assets/i_sear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446" y="581558"/>
            <a:ext cx="190195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204143" y="45720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1C1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查詢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2B313A"/>
          </a:solidFill>
          <a:ln w="9525">
            <a:solidFill>
              <a:srgbClr val="2B31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34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怎麼做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755648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1984248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298448" y="195681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理解問題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98448" y="23774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LLM 判斷要查哪些數據、哪段期間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218688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3447288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34198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查詢數據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98448" y="38404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呼叫查詢函式，數字由分析引擎計算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681728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" y="4910328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4910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98448" y="488289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白話回答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298448" y="53035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附圖表、資料區間與來源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886200" y="1234440"/>
            <a:ext cx="7756855" cy="4910328"/>
          </a:xfrm>
          <a:prstGeom prst="roundRect">
            <a:avLst>
              <a:gd name="adj" fmla="val 186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632764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畫面為 Demo 實機截圖；司機姓名、任務、客訴與準點率為模擬資料，車輛數據來自 HINO iTRAQ 競賽資料。</a:t>
            </a:r>
            <a:endParaRPr lang="en-US" sz="950" dirty="0"/>
          </a:p>
        </p:txBody>
      </p:sp>
      <p:pic>
        <p:nvPicPr>
          <p:cNvPr id="26" name="Image 1" descr="/private/tmp/claude-501/-Users-yentso-developer-AI-Hackathon-HINO/a56bb6a9-f83a-48da-8d61-bd3b228250b5/scratchpad/deck/assets/m_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717" y="1297645"/>
            <a:ext cx="3135736" cy="4847927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178808" y="1705356"/>
            <a:ext cx="365760" cy="36576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178808" y="17053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178808" y="3273552"/>
            <a:ext cx="365760" cy="36576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178808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178808" y="5334610"/>
            <a:ext cx="365760" cy="36576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178808" y="53346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7523249" y="1828800"/>
            <a:ext cx="3845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老闆用說的問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529089" y="2148840"/>
            <a:ext cx="2839646" cy="566928"/>
          </a:xfrm>
          <a:prstGeom prst="roundRect">
            <a:avLst>
              <a:gd name="adj" fmla="val 29032"/>
            </a:avLst>
          </a:prstGeom>
          <a:solidFill>
            <a:srgbClr val="2B313A"/>
          </a:solidFill>
          <a:ln w="9525">
            <a:solidFill>
              <a:srgbClr val="2B313A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529089" y="2148840"/>
            <a:ext cx="28396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「這個月誰最需要關心？」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7523249" y="3017520"/>
            <a:ext cx="3845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查完數據後回答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7523249" y="3337560"/>
            <a:ext cx="384548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2C9C5"/>
            </a:solidFill>
            <a:prstDash val="solid"/>
          </a:ln>
        </p:spPr>
      </p:sp>
      <p:pic>
        <p:nvPicPr>
          <p:cNvPr id="38" name="Image 2" descr="/private/tmp/claude-501/-Users-yentso-developer-AI-Hackathon-HINO/a56bb6a9-f83a-48da-8d61-bd3b228250b5/scratchpad/deck/assets/i_spark_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849" y="3520440"/>
            <a:ext cx="292608" cy="292608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117609" y="3493008"/>
            <a:ext cx="31139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吳師傅</a:t>
            </a:r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分數掉 11 分</a:t>
            </a:r>
            <a:endParaRPr lang="en-US" sz="1700" dirty="0"/>
          </a:p>
        </p:txBody>
      </p:sp>
      <p:sp>
        <p:nvSpPr>
          <p:cNvPr id="40" name="Text 35"/>
          <p:cNvSpPr txBox="1"/>
          <p:nvPr/>
        </p:nvSpPr>
        <p:spPr>
          <a:xfrm>
            <a:off x="7751849" y="3977640"/>
            <a:ext cx="34340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安全 59、節能 64 最弱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建議安排個別輔導</a:t>
            </a:r>
            <a:endParaRPr lang="en-US" sz="1350" dirty="0"/>
          </a:p>
        </p:txBody>
      </p:sp>
      <p:sp>
        <p:nvSpPr>
          <p:cNvPr id="41" name="Shape 36"/>
          <p:cNvSpPr/>
          <p:nvPr/>
        </p:nvSpPr>
        <p:spPr>
          <a:xfrm>
            <a:off x="7523249" y="5138928"/>
            <a:ext cx="3845486" cy="329184"/>
          </a:xfrm>
          <a:prstGeom prst="roundRect">
            <a:avLst>
              <a:gd name="adj" fmla="val 50000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7523249" y="5138928"/>
            <a:ext cx="38454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1C1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附來源：iTRAQ 競賽資料・2025/11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3. 解決方案設計</a:t>
            </a:r>
            <a:pPr indent="0" marL="0">
              <a:buNone/>
            </a:pPr>
            <a:r>
              <a:rPr lang="en-US" sz="2500" dirty="0">
                <a:solidFill>
                  <a:srgbClr val="C9CDD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｜  </a:t>
            </a:r>
            <a:pPr indent="0" marL="0">
              <a:buNone/>
            </a:pPr>
            <a:r>
              <a:rPr lang="en-US" sz="2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 3　AI 節能安全教練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207447" y="457200"/>
            <a:ext cx="1435608" cy="438912"/>
          </a:xfrm>
          <a:prstGeom prst="roundRect">
            <a:avLst>
              <a:gd name="adj" fmla="val 50000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71455" y="493776"/>
            <a:ext cx="365760" cy="365760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5" name="Image 0" descr="/private/tmp/claude-501/-Users-yentso-developer-AI-Hackathon-HINO/a56bb6a9-f83a-48da-8d61-bd3b228250b5/scratchpad/deck/assets/i_fuel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9238" y="581558"/>
            <a:ext cx="190195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682935" y="457200"/>
            <a:ext cx="88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1C1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省油・安全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2B313A"/>
          </a:solidFill>
          <a:ln w="9525">
            <a:solidFill>
              <a:srgbClr val="2B31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34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怎麼做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755648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1984248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298448" y="195681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拆出原因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98448" y="23774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多耗的油：高轉速、怠速各多花多少錢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218688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3447288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34198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公平評分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98448" y="38404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同車型、每百公里標準化，拆成四項分數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681728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" y="4910328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4910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98448" y="488289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教司機改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298448" y="53035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教練給方向，LINE 傳鼓勵給司機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886200" y="1234440"/>
            <a:ext cx="7756855" cy="4910328"/>
          </a:xfrm>
          <a:prstGeom prst="roundRect">
            <a:avLst>
              <a:gd name="adj" fmla="val 186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632764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畫面為 Demo 實機截圖；司機姓名、任務、客訴與準點率為模擬資料，車輛數據來自 HINO iTRAQ 競賽資料。</a:t>
            </a:r>
            <a:endParaRPr lang="en-US" sz="950" dirty="0"/>
          </a:p>
        </p:txBody>
      </p:sp>
      <p:pic>
        <p:nvPicPr>
          <p:cNvPr id="26" name="Image 1" descr="/private/tmp/claude-501/-Users-yentso-developer-AI-Hackathon-HINO/a56bb6a9-f83a-48da-8d61-bd3b228250b5/scratchpad/deck/assets/m_fle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430" y="1348950"/>
            <a:ext cx="2614030" cy="4663019"/>
          </a:xfrm>
          <a:prstGeom prst="rect">
            <a:avLst/>
          </a:prstGeom>
        </p:spPr>
      </p:pic>
      <p:pic>
        <p:nvPicPr>
          <p:cNvPr id="27" name="Image 2" descr="/private/tmp/claude-501/-Users-yentso-developer-AI-Hackathon-HINO/a56bb6a9-f83a-48da-8d61-bd3b228250b5/scratchpad/deck/assets/m_dri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616" y="1327245"/>
            <a:ext cx="2969070" cy="3520099"/>
          </a:xfrm>
          <a:prstGeom prst="rect">
            <a:avLst/>
          </a:prstGeom>
        </p:spPr>
      </p:pic>
      <p:pic>
        <p:nvPicPr>
          <p:cNvPr id="28" name="Image 3" descr="/private/tmp/claude-501/-Users-yentso-developer-AI-Hackathon-HINO/a56bb6a9-f83a-48da-8d61-bd3b228250b5/scratchpad/deck/assets/m_line_dri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511" y="4014216"/>
            <a:ext cx="3127248" cy="183794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096512" y="1380744"/>
            <a:ext cx="365760" cy="36576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096512" y="1380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802403" y="1380744"/>
            <a:ext cx="365760" cy="36576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802403" y="1380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515807" y="4078224"/>
            <a:ext cx="365760" cy="36576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515807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9792491" y="1600200"/>
            <a:ext cx="1576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教練判斷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9792491" y="1901952"/>
            <a:ext cx="15762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安全與節能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待改善</a:t>
            </a:r>
            <a:endParaRPr lang="en-US" sz="1700" dirty="0"/>
          </a:p>
        </p:txBody>
      </p:sp>
      <p:sp>
        <p:nvSpPr>
          <p:cNvPr id="37" name="Text 31"/>
          <p:cNvSpPr txBox="1"/>
          <p:nvPr/>
        </p:nvSpPr>
        <p:spPr>
          <a:xfrm>
            <a:off x="9792491" y="2724912"/>
            <a:ext cx="15762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先改怠速與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急加減速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4206240" y="5925312"/>
            <a:ext cx="25687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車隊績效：多耗的油花在哪裡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8625535" y="5733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週回饋：先肯定，再給一個目標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3. 解決方案設計</a:t>
            </a:r>
            <a:pPr indent="0" marL="0">
              <a:buNone/>
            </a:pPr>
            <a:r>
              <a:rPr lang="en-US" sz="2500" dirty="0">
                <a:solidFill>
                  <a:srgbClr val="C9CDD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｜  </a:t>
            </a:r>
            <a:pPr indent="0" marL="0">
              <a:buNone/>
            </a:pPr>
            <a:r>
              <a:rPr lang="en-US" sz="2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 4　月報與客訴助理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207447" y="457200"/>
            <a:ext cx="1435608" cy="438912"/>
          </a:xfrm>
          <a:prstGeom prst="roundRect">
            <a:avLst>
              <a:gd name="adj" fmla="val 50000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71455" y="493776"/>
            <a:ext cx="365760" cy="365760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5" name="Image 0" descr="/private/tmp/claude-501/-Users-yentso-developer-AI-Hackathon-HINO/a56bb6a9-f83a-48da-8d61-bd3b228250b5/scratchpad/deck/assets/i_coin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9238" y="581558"/>
            <a:ext cx="190195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682935" y="457200"/>
            <a:ext cx="88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1C1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獎金・客訴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2B313A"/>
          </a:solidFill>
          <a:ln w="9525">
            <a:solidFill>
              <a:srgbClr val="2B31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34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怎麼做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755648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1984248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298448" y="195681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月報一鍵彙整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98448" y="23774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寫重點；獎金依分數算，違規自動暫緩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218688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3447288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34198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客訴自動查證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98448" y="38404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調出當天軌跡與事件當作證據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681728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" y="4910328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4910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98448" y="488289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回覆先擬好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298448" y="53035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老闆確認後，以 LINE 回覆客戶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886200" y="1234440"/>
            <a:ext cx="7756855" cy="4910328"/>
          </a:xfrm>
          <a:prstGeom prst="roundRect">
            <a:avLst>
              <a:gd name="adj" fmla="val 186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632764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畫面為 Demo 實機截圖；司機姓名、任務、客訴與準點率為模擬資料，車輛數據來自 HINO iTRAQ 競賽資料。</a:t>
            </a:r>
            <a:endParaRPr lang="en-US" sz="950" dirty="0"/>
          </a:p>
        </p:txBody>
      </p:sp>
      <p:pic>
        <p:nvPicPr>
          <p:cNvPr id="26" name="Image 1" descr="/private/tmp/claude-501/-Users-yentso-developer-AI-Hackathon-HINO/a56bb6a9-f83a-48da-8d61-bd3b228250b5/scratchpad/deck/assets/m_month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691640"/>
            <a:ext cx="4297680" cy="2801983"/>
          </a:xfrm>
          <a:prstGeom prst="rect">
            <a:avLst/>
          </a:prstGeom>
        </p:spPr>
      </p:pic>
      <p:pic>
        <p:nvPicPr>
          <p:cNvPr id="27" name="Image 2" descr="/private/tmp/claude-501/-Users-yentso-developer-AI-Hackathon-HINO/a56bb6a9-f83a-48da-8d61-bd3b228250b5/scratchpad/deck/assets/m_compla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712" y="1644857"/>
            <a:ext cx="3248247" cy="4215809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4096512" y="1746504"/>
            <a:ext cx="365760" cy="36576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096512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287207" y="2295197"/>
            <a:ext cx="365760" cy="36576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287207" y="229519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287207" y="5013357"/>
            <a:ext cx="365760" cy="365760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287207" y="50133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4206240" y="4585063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389120" y="4703935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NT$27,500</a:t>
            </a:r>
            <a:endParaRPr lang="en-US" sz="2000" dirty="0"/>
          </a:p>
        </p:txBody>
      </p:sp>
      <p:sp>
        <p:nvSpPr>
          <p:cNvPr id="36" name="Text 31"/>
          <p:cNvSpPr txBox="1"/>
          <p:nvPr/>
        </p:nvSpPr>
        <p:spPr>
          <a:xfrm>
            <a:off x="4389120" y="5133703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本月建議獎金合計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263640" y="4585063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446520" y="4703935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分心 3・超速 4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6446520" y="5133703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判斷：需調影像再確認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4. AI 應用方法</a:t>
            </a:r>
            <a:pPr indent="0" marL="0">
              <a:buNone/>
            </a:pPr>
            <a:r>
              <a:rPr lang="en-US" sz="2500" dirty="0">
                <a:solidFill>
                  <a:srgbClr val="C9CDD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｜  </a:t>
            </a:r>
            <a:pPr indent="0" marL="0">
              <a:buNone/>
            </a:pPr>
            <a:r>
              <a:rPr lang="en-US" sz="2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技術與選用依據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技術與工具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709160" y="1188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負責的任務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11887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選用依據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4415" cy="768096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737360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554480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LLM：GPT-6 Luna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554480"/>
            <a:ext cx="3429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晨報、原因說明、問答、通知與客訴草稿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554480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支援 tool calling 與結構化輸出，效率高，適合每天大量產生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450592"/>
            <a:ext cx="11094415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633472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450592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分析引擎：統計歸因＋異常偵測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2450592"/>
            <a:ext cx="3429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油耗原因拆解、同車型基準、司機評分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45059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數字可重現、可稽核，不交給 LLM 計算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346704"/>
            <a:ext cx="11094415" cy="768096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29584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346704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LightGBM 延誤預測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346704"/>
            <a:ext cx="3429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依路段車速、時段、天氣預估到達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346704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適合表格資料、訓練快，可列出影響因素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242816"/>
            <a:ext cx="11094415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425696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242816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RAG：法規與 iTRAQ 手冊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242816"/>
            <a:ext cx="3429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回答工時規定與系統操作問題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242816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引用正確條文與說明，避免答錯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138928"/>
            <a:ext cx="11094415" cy="768096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5321808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" y="5321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5138928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Messaging API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5138928"/>
            <a:ext cx="3429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晨報、提醒、司機回饋推播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5138928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老闆與司機最常用，不需另裝 App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4. AI 應用方法</a:t>
            </a:r>
            <a:pPr indent="0" marL="0">
              <a:buNone/>
            </a:pPr>
            <a:r>
              <a:rPr lang="en-US" sz="2500" dirty="0">
                <a:solidFill>
                  <a:srgbClr val="C9CDD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｜  </a:t>
            </a:r>
            <a:pPr indent="0" marL="0">
              <a:buNone/>
            </a:pPr>
            <a:r>
              <a:rPr lang="en-US" sz="2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數字由程式算，AI 負責解釋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問答流程（以「上週誰最耗油？」為例）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938528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373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老闆提問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1488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上週誰最耗油？</a:t>
            </a:r>
            <a:endParaRPr lang="en-US" sz="1100" dirty="0"/>
          </a:p>
        </p:txBody>
      </p:sp>
      <p:pic>
        <p:nvPicPr>
          <p:cNvPr id="7" name="Image 0" descr="/private/tmp/claude-501/-Users-yentso-developer-AI-Hackathon-HINO/a56bb6a9-f83a-48da-8d61-bd3b228250b5/scratchpad/deck/assets/i_arrow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662" y="2029968"/>
            <a:ext cx="219456" cy="2194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37612" y="1572768"/>
            <a:ext cx="1938528" cy="1143000"/>
          </a:xfrm>
          <a:prstGeom prst="roundRect">
            <a:avLst>
              <a:gd name="adj" fmla="val 8000"/>
            </a:avLst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02204" y="17373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LLM 理解問題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3002204" y="21488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BE3E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要查：上週、各車油耗</a:t>
            </a:r>
            <a:endParaRPr lang="en-US" sz="1100" dirty="0"/>
          </a:p>
        </p:txBody>
      </p:sp>
      <p:pic>
        <p:nvPicPr>
          <p:cNvPr id="11" name="Image 1" descr="/private/tmp/claude-501/-Users-yentso-developer-AI-Hackathon-HINO/a56bb6a9-f83a-48da-8d61-bd3b228250b5/scratchpad/deck/assets/i_arrow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634" y="2029968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26584" y="1572768"/>
            <a:ext cx="1938528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291176" y="17373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呼叫查詢函式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5291176" y="21488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get_fuel_ranking(…)</a:t>
            </a:r>
            <a:endParaRPr lang="en-US" sz="1100" dirty="0"/>
          </a:p>
        </p:txBody>
      </p:sp>
      <p:pic>
        <p:nvPicPr>
          <p:cNvPr id="15" name="Image 2" descr="/private/tmp/claude-501/-Users-yentso-developer-AI-Hackathon-HINO/a56bb6a9-f83a-48da-8d61-bd3b228250b5/scratchpad/deck/assets/i_arrow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606" y="2029968"/>
            <a:ext cx="219456" cy="21945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15555" y="1572768"/>
            <a:ext cx="1938528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580147" y="17373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分析引擎算數字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7580147" y="21488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 iTRAQ 數據計算</a:t>
            </a:r>
            <a:endParaRPr lang="en-US" sz="1100" dirty="0"/>
          </a:p>
        </p:txBody>
      </p:sp>
      <p:pic>
        <p:nvPicPr>
          <p:cNvPr id="19" name="Image 3" descr="/private/tmp/claude-501/-Users-yentso-developer-AI-Hackathon-HINO/a56bb6a9-f83a-48da-8d61-bd3b228250b5/scratchpad/deck/assets/i_arrow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9577" y="2029968"/>
            <a:ext cx="219456" cy="21945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704527" y="1572768"/>
            <a:ext cx="1938528" cy="1143000"/>
          </a:xfrm>
          <a:prstGeom prst="roundRect">
            <a:avLst>
              <a:gd name="adj" fmla="val 8000"/>
            </a:avLst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9869119" y="17373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LLM 白話回答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9869119" y="21488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BE3E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附圖表與資料來源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2816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■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紅色為 LLM 負責的步驟，其餘由程式執行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337560"/>
            <a:ext cx="5410048" cy="2788920"/>
          </a:xfrm>
          <a:prstGeom prst="roundRect">
            <a:avLst>
              <a:gd name="adj" fmla="val 3279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6868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司機綜合分數怎麼算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868680" y="4160520"/>
            <a:ext cx="1907987" cy="502920"/>
          </a:xfrm>
          <a:prstGeom prst="rect">
            <a:avLst/>
          </a:prstGeom>
          <a:solidFill>
            <a:srgbClr val="C8261C"/>
          </a:solidFill>
          <a:ln w="12700">
            <a:solidFill>
              <a:srgbClr val="C8261C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68680" y="4160520"/>
            <a:ext cx="19079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安全 40%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2776667" y="4160520"/>
            <a:ext cx="1430990" cy="502920"/>
          </a:xfrm>
          <a:prstGeom prst="rect">
            <a:avLst/>
          </a:prstGeom>
          <a:solidFill>
            <a:srgbClr val="E07A70"/>
          </a:solidFill>
          <a:ln w="12700">
            <a:solidFill>
              <a:srgbClr val="E07A7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2776667" y="4160520"/>
            <a:ext cx="1430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節能 30%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4207657" y="4160520"/>
            <a:ext cx="953994" cy="502920"/>
          </a:xfrm>
          <a:prstGeom prst="rect">
            <a:avLst/>
          </a:prstGeom>
          <a:solidFill>
            <a:srgbClr val="EDB0A9"/>
          </a:solidFill>
          <a:ln w="12700">
            <a:solidFill>
              <a:srgbClr val="EDB0A9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207657" y="4160520"/>
            <a:ext cx="953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1C1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準時 20%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161651" y="4160520"/>
            <a:ext cx="476997" cy="502920"/>
          </a:xfrm>
          <a:prstGeom prst="rect">
            <a:avLst/>
          </a:prstGeom>
          <a:solidFill>
            <a:srgbClr val="F4D2CE"/>
          </a:solidFill>
          <a:ln w="12700">
            <a:solidFill>
              <a:srgbClr val="F4D2CE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161651" y="4160520"/>
            <a:ext cx="4769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1C1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合規 10%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868680" y="489204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同車型比較、每百公里標準化，並對照自身歷史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權重為初版設定，老闆可自行調整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6233008" y="3337560"/>
            <a:ext cx="5410048" cy="2788920"/>
          </a:xfrm>
          <a:prstGeom prst="roundRect">
            <a:avLst>
              <a:gd name="adj" fmla="val 3279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553048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避免 AI 編造數字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553048" y="4178808"/>
            <a:ext cx="329184" cy="329184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38" name="Image 4" descr="/private/tmp/claude-501/-Users-yentso-developer-AI-Hackathon-HINO/a56bb6a9-f83a-48da-8d61-bd3b228250b5/scratchpad/deck/assets/i_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200" y="4251960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037680" y="416052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所有數字都來自查詢結果，LLM 不自己算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6553048" y="4745736"/>
            <a:ext cx="329184" cy="329184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41" name="Image 5" descr="/private/tmp/claude-501/-Users-yentso-developer-AI-Hackathon-HINO/a56bb6a9-f83a-48da-8d61-bd3b228250b5/scratchpad/deck/assets/i_che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200" y="4818888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037680" y="4727448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回答附資料區間與來源，可回頭查證</a:t>
            </a:r>
            <a:endParaRPr lang="en-US" sz="1300" dirty="0"/>
          </a:p>
        </p:txBody>
      </p:sp>
      <p:sp>
        <p:nvSpPr>
          <p:cNvPr id="43" name="Shape 35"/>
          <p:cNvSpPr/>
          <p:nvPr/>
        </p:nvSpPr>
        <p:spPr>
          <a:xfrm>
            <a:off x="6553048" y="5312664"/>
            <a:ext cx="329184" cy="329184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44" name="Image 6" descr="/private/tmp/claude-501/-Users-yentso-developer-AI-Hackathon-HINO/a56bb6a9-f83a-48da-8d61-bd3b228250b5/scratchpad/deck/assets/i_check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6200" y="5385816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037680" y="5294376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模擬資料另外標示，與原始數據分開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5. 獨特優勢與差異化</a:t>
            </a:r>
            <a:pPr indent="0" marL="0">
              <a:buNone/>
            </a:pPr>
            <a:r>
              <a:rPr lang="en-US" sz="2500" dirty="0">
                <a:solidFill>
                  <a:srgbClr val="C9CDD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｜  </a:t>
            </a:r>
            <a:pPr indent="0" marL="0">
              <a:buNone/>
            </a:pPr>
            <a:r>
              <a:rPr lang="en-US" sz="2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從給數字到替老闆判斷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415" cy="3840480"/>
          </a:xfrm>
          <a:prstGeom prst="roundRect">
            <a:avLst>
              <a:gd name="adj" fmla="val 2381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1097280"/>
            <a:ext cx="3429000" cy="4297680"/>
          </a:xfrm>
          <a:prstGeom prst="roundRect">
            <a:avLst>
              <a:gd name="adj" fmla="val 3733"/>
            </a:avLst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3484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現有車隊報表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366760" y="14173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HINO Pilot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2B313A"/>
          </a:solidFill>
          <a:ln w="9525">
            <a:solidFill>
              <a:srgbClr val="2B313A"/>
            </a:solidFill>
            <a:prstDash val="solid"/>
          </a:ln>
        </p:spPr>
      </p:sp>
      <p:pic>
        <p:nvPicPr>
          <p:cNvPr id="8" name="Image 0" descr="/private/tmp/claude-501/-Users-yentso-developer-AI-Hackathon-HINO/a56bb6a9-f83a-48da-8d61-bd3b228250b5/scratchpad/deck/assets/i_sear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10" y="2158350"/>
            <a:ext cx="218724" cy="2187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6596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呈現方式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196596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列出數字與事件清單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196596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指出異常、原因與先做什麼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77240" y="2569464"/>
            <a:ext cx="7406640" cy="0"/>
          </a:xfrm>
          <a:prstGeom prst="line">
            <a:avLst/>
          </a:prstGeom>
          <a:noFill/>
          <a:ln w="9525">
            <a:solidFill>
              <a:srgbClr val="DDE0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697480"/>
            <a:ext cx="420624" cy="420624"/>
          </a:xfrm>
          <a:prstGeom prst="ellipse">
            <a:avLst/>
          </a:prstGeom>
          <a:solidFill>
            <a:srgbClr val="2B313A"/>
          </a:solidFill>
          <a:ln w="9525">
            <a:solidFill>
              <a:srgbClr val="2B313A"/>
            </a:solidFill>
            <a:prstDash val="solid"/>
          </a:ln>
        </p:spPr>
      </p:sp>
      <p:pic>
        <p:nvPicPr>
          <p:cNvPr id="14" name="Image 1" descr="/private/tmp/claude-501/-Users-yentso-developer-AI-Hackathon-HINO/a56bb6a9-f83a-48da-8d61-bd3b228250b5/scratchpad/deck/assets/i_bel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10" y="2798430"/>
            <a:ext cx="218724" cy="2187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260604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介入時間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434840" y="260604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事後月報、事後通知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260604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每日晨報＋事前預警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777240" y="3209544"/>
            <a:ext cx="7406640" cy="0"/>
          </a:xfrm>
          <a:prstGeom prst="line">
            <a:avLst/>
          </a:prstGeom>
          <a:noFill/>
          <a:ln w="9525">
            <a:solidFill>
              <a:srgbClr val="DDE0E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" y="3337560"/>
            <a:ext cx="420624" cy="420624"/>
          </a:xfrm>
          <a:prstGeom prst="ellipse">
            <a:avLst/>
          </a:prstGeom>
          <a:solidFill>
            <a:srgbClr val="2B313A"/>
          </a:solidFill>
          <a:ln w="9525">
            <a:solidFill>
              <a:srgbClr val="2B313A"/>
            </a:solidFill>
            <a:prstDash val="solid"/>
          </a:ln>
        </p:spPr>
      </p:sp>
      <p:pic>
        <p:nvPicPr>
          <p:cNvPr id="20" name="Image 2" descr="/private/tmp/claude-501/-Users-yentso-developer-AI-Hackathon-HINO/a56bb6a9-f83a-48da-8d61-bd3b228250b5/scratchpad/deck/assets/i_user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10" y="3438510"/>
            <a:ext cx="218724" cy="2187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17320" y="32461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司機評價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434840" y="324612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看事件次數，難比較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503920" y="32461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同車型標準化四項分數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777240" y="3849624"/>
            <a:ext cx="7406640" cy="0"/>
          </a:xfrm>
          <a:prstGeom prst="line">
            <a:avLst/>
          </a:prstGeom>
          <a:noFill/>
          <a:ln w="9525">
            <a:solidFill>
              <a:srgbClr val="DDE0E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22960" y="3977640"/>
            <a:ext cx="420624" cy="420624"/>
          </a:xfrm>
          <a:prstGeom prst="ellipse">
            <a:avLst/>
          </a:prstGeom>
          <a:solidFill>
            <a:srgbClr val="2B313A"/>
          </a:solidFill>
          <a:ln w="9525">
            <a:solidFill>
              <a:srgbClr val="2B313A"/>
            </a:solidFill>
            <a:prstDash val="solid"/>
          </a:ln>
        </p:spPr>
      </p:sp>
      <p:pic>
        <p:nvPicPr>
          <p:cNvPr id="26" name="Image 3" descr="/private/tmp/claude-501/-Users-yentso-developer-AI-Hackathon-HINO/a56bb6a9-f83a-48da-8d61-bd3b228250b5/scratchpad/deck/assets/i_msg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10" y="4078590"/>
            <a:ext cx="218724" cy="21872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17320" y="388620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使用門檻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4434840" y="388620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要逐頁查詢報表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8503920" y="388620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接收、用說的問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777240" y="4489704"/>
            <a:ext cx="7406640" cy="0"/>
          </a:xfrm>
          <a:prstGeom prst="line">
            <a:avLst/>
          </a:prstGeom>
          <a:noFill/>
          <a:ln w="9525">
            <a:solidFill>
              <a:srgbClr val="DDE0E4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22960" y="4617720"/>
            <a:ext cx="420624" cy="420624"/>
          </a:xfrm>
          <a:prstGeom prst="ellipse">
            <a:avLst/>
          </a:prstGeom>
          <a:solidFill>
            <a:srgbClr val="2B313A"/>
          </a:solidFill>
          <a:ln w="9525">
            <a:solidFill>
              <a:srgbClr val="2B313A"/>
            </a:solidFill>
            <a:prstDash val="solid"/>
          </a:ln>
        </p:spPr>
      </p:sp>
      <p:pic>
        <p:nvPicPr>
          <p:cNvPr id="32" name="Image 4" descr="/private/tmp/claude-501/-Users-yentso-developer-AI-Hackathon-HINO/a56bb6a9-f83a-48da-8d61-bd3b228250b5/scratchpad/deck/assets/i_clip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10" y="4718670"/>
            <a:ext cx="218724" cy="21872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417320" y="45262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法規合規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4434840" y="452628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老闆自行對照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8503920" y="452628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內建 2026 工時新規提醒</a:t>
            </a:r>
            <a:endParaRPr lang="en-US" sz="135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難以複製的原因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548640" y="5870448"/>
            <a:ext cx="3576218" cy="502920"/>
          </a:xfrm>
          <a:prstGeom prst="roundRect">
            <a:avLst>
              <a:gd name="adj" fmla="val 18182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31520" y="5870448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原廠數據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HINO CAN 與 DMS／ADAS 事件</a:t>
            </a:r>
            <a:endParaRPr lang="en-US" sz="1250" dirty="0"/>
          </a:p>
        </p:txBody>
      </p:sp>
      <p:sp>
        <p:nvSpPr>
          <p:cNvPr id="39" name="Shape 32"/>
          <p:cNvSpPr/>
          <p:nvPr/>
        </p:nvSpPr>
        <p:spPr>
          <a:xfrm>
            <a:off x="4307738" y="5870448"/>
            <a:ext cx="3576218" cy="502920"/>
          </a:xfrm>
          <a:prstGeom prst="roundRect">
            <a:avLst>
              <a:gd name="adj" fmla="val 18182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4490618" y="5870448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既有系統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直接串接 iTRAQ，不必換系統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8066837" y="5870448"/>
            <a:ext cx="3576218" cy="502920"/>
          </a:xfrm>
          <a:prstGeom prst="roundRect">
            <a:avLst>
              <a:gd name="adj" fmla="val 18182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249717" y="5870448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規模基準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全台 4,000+ 台車的同車型基準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6. 預期效益與落地評估</a:t>
            </a:r>
            <a:pPr indent="0" marL="0">
              <a:buNone/>
            </a:pPr>
            <a:r>
              <a:rPr lang="en-US" sz="2500" dirty="0">
                <a:solidFill>
                  <a:srgbClr val="C9CDD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｜  </a:t>
            </a:r>
            <a:pPr indent="0" marL="0">
              <a:buNone/>
            </a:pPr>
            <a:r>
              <a:rPr lang="en-US" sz="2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預期效益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2154" cy="3383280"/>
          </a:xfrm>
          <a:prstGeom prst="roundRect">
            <a:avLst>
              <a:gd name="adj" fmla="val 3514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463040"/>
            <a:ext cx="457200" cy="457200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5" name="Image 0" descr="/private/tmp/claude-501/-Users-yentso-developer-AI-Hackathon-HINO/a56bb6a9-f83a-48da-8d61-bd3b228250b5/scratchpad/deck/assets/i_fuel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727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6304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油耗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148840"/>
            <a:ext cx="2236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約 −6%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108960"/>
            <a:ext cx="21449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怠速減半、高耗油車回到同型中位數；20 台車一年約省 NT$35 萬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79394" y="1234440"/>
            <a:ext cx="2602154" cy="3383280"/>
          </a:xfrm>
          <a:prstGeom prst="roundRect">
            <a:avLst>
              <a:gd name="adj" fmla="val 3514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5426" y="1463040"/>
            <a:ext cx="457200" cy="457200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11" name="Image 1" descr="/private/tmp/claude-501/-Users-yentso-developer-AI-Hackathon-HINO/a56bb6a9-f83a-48da-8d61-bd3b228250b5/scratchpad/deck/assets/i_shiel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154" y="15727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02354" y="146304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危險駕駛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635426" y="2148840"/>
            <a:ext cx="2236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−10～20%</a:t>
            </a:r>
            <a:endParaRPr lang="en-US" sz="3100" dirty="0"/>
          </a:p>
        </p:txBody>
      </p:sp>
      <p:sp>
        <p:nvSpPr>
          <p:cNvPr id="14" name="Text 10"/>
          <p:cNvSpPr txBox="1"/>
          <p:nvPr/>
        </p:nvSpPr>
        <p:spPr>
          <a:xfrm>
            <a:off x="3635426" y="3108960"/>
            <a:ext cx="21449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超速、急煞事件；AAA 2025 隨機對照試驗：回饋可減少 11–21%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0148" y="1234440"/>
            <a:ext cx="2602154" cy="3383280"/>
          </a:xfrm>
          <a:prstGeom prst="roundRect">
            <a:avLst>
              <a:gd name="adj" fmla="val 3514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66180" y="1463040"/>
            <a:ext cx="457200" cy="457200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17" name="Image 2" descr="/private/tmp/claude-501/-Users-yentso-developer-AI-Hackathon-HINO/a56bb6a9-f83a-48da-8d61-bd3b228250b5/scratchpad/deck/assets/i_clip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157276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33108" y="146304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工時違規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66180" y="2148840"/>
            <a:ext cx="2236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0</a:t>
            </a:r>
            <a:endParaRPr lang="en-US" sz="3100" dirty="0"/>
          </a:p>
        </p:txBody>
      </p:sp>
      <p:sp>
        <p:nvSpPr>
          <p:cNvPr id="20" name="Text 15"/>
          <p:cNvSpPr txBox="1"/>
          <p:nvPr/>
        </p:nvSpPr>
        <p:spPr>
          <a:xfrm>
            <a:off x="6466180" y="3108960"/>
            <a:ext cx="21449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接近 4／10 小時上限前提醒；違規罰鍰 NT$9,000–90,000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040901" y="1234440"/>
            <a:ext cx="2602154" cy="3383280"/>
          </a:xfrm>
          <a:prstGeom prst="roundRect">
            <a:avLst>
              <a:gd name="adj" fmla="val 3514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96933" y="1463040"/>
            <a:ext cx="457200" cy="457200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23" name="Image 3" descr="/private/tmp/claude-501/-Users-yentso-developer-AI-Hackathon-HINO/a56bb6a9-f83a-48da-8d61-bd3b228250b5/scratchpad/deck/assets/i_dash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6661" y="157276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863861" y="146304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管理時間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9296933" y="2148840"/>
            <a:ext cx="2236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分鐘</a:t>
            </a:r>
            <a:endParaRPr lang="en-US" sz="3100" dirty="0"/>
          </a:p>
        </p:txBody>
      </p:sp>
      <p:sp>
        <p:nvSpPr>
          <p:cNvPr id="26" name="Text 20"/>
          <p:cNvSpPr txBox="1"/>
          <p:nvPr/>
        </p:nvSpPr>
        <p:spPr>
          <a:xfrm>
            <a:off x="9296933" y="3108960"/>
            <a:ext cx="21449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每天看一則晨報掌握全隊；月報與獎金建議自動產出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48920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22960" y="48920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追蹤指標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2011680" y="489204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每車 L/100km・怠速占比・每百公里事件數・準點率・客訴件數・工時違規次數；導入前後以同車型比較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03504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估算基礎：競賽資料 20 台車 2025/1–11 累計油耗約 18.7 萬公升，年化約 20.5 萬公升；柴油以每公升 NT$28 假設。外部研究見補充資料。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6. 預期效益與落地評估</a:t>
            </a:r>
            <a:pPr indent="0" marL="0">
              <a:buNone/>
            </a:pPr>
            <a:r>
              <a:rPr lang="en-US" sz="2500" dirty="0">
                <a:solidFill>
                  <a:srgbClr val="C9CDD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｜  </a:t>
            </a:r>
            <a:pPr indent="0" marL="0">
              <a:buNone/>
            </a:pPr>
            <a:r>
              <a:rPr lang="en-US" sz="25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落地評估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481328"/>
            <a:ext cx="10545775" cy="0"/>
          </a:xfrm>
          <a:prstGeom prst="line">
            <a:avLst/>
          </a:prstGeom>
          <a:noFill/>
          <a:ln w="25400">
            <a:solidFill>
              <a:srgbClr val="E2C9C5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02336" cy="402336"/>
          </a:xfrm>
          <a:prstGeom prst="ellipse">
            <a:avLst/>
          </a:prstGeom>
          <a:solidFill>
            <a:srgbClr val="C82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22860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 1–2 個月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826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概念驗證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42032"/>
            <a:ext cx="3042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串接 iTRAQ API，1–2 個車隊（約 20 台）上線晨報與工時提醒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14418" y="1280160"/>
            <a:ext cx="402336" cy="402336"/>
          </a:xfrm>
          <a:prstGeom prst="ellipse">
            <a:avLst/>
          </a:prstGeom>
          <a:solidFill>
            <a:srgbClr val="2B3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14418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63058" y="1280160"/>
            <a:ext cx="22860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 3–6 個月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2978" y="187452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7298" y="20574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試點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97298" y="2542032"/>
            <a:ext cx="3042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加入延誤預測、客訴助理、司機 LINE 回饋，每月校正評分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8757" y="1280160"/>
            <a:ext cx="402336" cy="402336"/>
          </a:xfrm>
          <a:prstGeom prst="ellipse">
            <a:avLst/>
          </a:prstGeom>
          <a:solidFill>
            <a:srgbClr val="2B3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8757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737397" y="1280160"/>
            <a:ext cx="22860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 7 個月起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97317" y="187452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71637" y="20574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推廣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371637" y="2542032"/>
            <a:ext cx="3042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作為 iTRAQ 加值方案，開放給全台 4,000+ 台車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794760"/>
            <a:ext cx="3545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落地條件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51960"/>
            <a:ext cx="54864" cy="457200"/>
          </a:xfrm>
          <a:prstGeom prst="rect">
            <a:avLst/>
          </a:prstGeom>
          <a:solidFill>
            <a:srgbClr val="C8261C"/>
          </a:solidFill>
          <a:ln w="12700">
            <a:solidFill>
              <a:srgbClr val="C826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251960"/>
            <a:ext cx="322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iTRAQ 資料 API 存取權限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818888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818888"/>
            <a:ext cx="54864" cy="457200"/>
          </a:xfrm>
          <a:prstGeom prst="rect">
            <a:avLst/>
          </a:prstGeom>
          <a:solidFill>
            <a:srgbClr val="C8261C"/>
          </a:solidFill>
          <a:ln w="12700">
            <a:solidFill>
              <a:srgbClr val="C826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818888"/>
            <a:ext cx="322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駕駛 ID 與車輛綁定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385816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385816"/>
            <a:ext cx="54864" cy="457200"/>
          </a:xfrm>
          <a:prstGeom prst="rect">
            <a:avLst/>
          </a:prstGeom>
          <a:solidFill>
            <a:srgbClr val="C8261C"/>
          </a:solidFill>
          <a:ln w="12700">
            <a:solidFill>
              <a:srgbClr val="C826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385816"/>
            <a:ext cx="322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車隊客戶同意資料使用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322978" y="3794760"/>
            <a:ext cx="3545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資源需求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322978" y="4251960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22978" y="4251960"/>
            <a:ext cx="54864" cy="457200"/>
          </a:xfrm>
          <a:prstGeom prst="rect">
            <a:avLst/>
          </a:prstGeom>
          <a:solidFill>
            <a:srgbClr val="C8261C"/>
          </a:solidFill>
          <a:ln w="12700">
            <a:solidFill>
              <a:srgbClr val="C8261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51578" y="4251960"/>
            <a:ext cx="322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後端／資料 2 人、前端 1 人、PM 1 人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22978" y="4818888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22978" y="4818888"/>
            <a:ext cx="54864" cy="457200"/>
          </a:xfrm>
          <a:prstGeom prst="rect">
            <a:avLst/>
          </a:prstGeom>
          <a:solidFill>
            <a:srgbClr val="C8261C"/>
          </a:solidFill>
          <a:ln w="12700">
            <a:solidFill>
              <a:srgbClr val="C8261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51578" y="4818888"/>
            <a:ext cx="322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雲端主機與 LLM API（用量可控）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22978" y="5385816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22978" y="5385816"/>
            <a:ext cx="54864" cy="457200"/>
          </a:xfrm>
          <a:prstGeom prst="rect">
            <a:avLst/>
          </a:prstGeom>
          <a:solidFill>
            <a:srgbClr val="C8261C"/>
          </a:solidFill>
          <a:ln w="12700">
            <a:solidFill>
              <a:srgbClr val="C8261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51578" y="5385816"/>
            <a:ext cx="322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官方帳號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097317" y="3794760"/>
            <a:ext cx="3545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限制與因應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097317" y="4251960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97317" y="4251960"/>
            <a:ext cx="54864" cy="45720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325917" y="4251960"/>
            <a:ext cx="322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樣本僅 20 台 → 試點擴大驗證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97317" y="4818888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97317" y="4818888"/>
            <a:ext cx="54864" cy="45720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25917" y="4818888"/>
            <a:ext cx="322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事件門檻不一 → 對照自身歷史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097317" y="5385816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97317" y="5385816"/>
            <a:ext cx="54864" cy="45720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325917" y="5385816"/>
            <a:ext cx="322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無駕駛身分 → 導入時綁定 ID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7. 補充資料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7223760" cy="5029200"/>
          </a:xfrm>
          <a:prstGeom prst="roundRect">
            <a:avLst>
              <a:gd name="adj" fmla="val 1818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參考資料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6675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HINO iTRAQ 競賽資料（2025/1–11，20 台車）、iTRAQ 系統使用手冊、解題資料 FAQ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交通部《汽車運輸業管理規則》修正，2026/5/8 施行：營業大貨車每日駕駛上限 10 小時、連續 4 小時須休息 30 分鐘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AAA Foundation for Traffic Safety（2025），telematics feedback 隨機對照試驗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Motive（2024），車隊追蹤駕駛與車輛數據可節省燃料成本達 13%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Lytx，影像遠端資訊＋駕駛輔導之碰撞減少研究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ATRI（2025），An Analysis of the Operational Costs of Trucking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資料處理與模擬資料說明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5720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油耗：以 CAN 累計油耗與累計里程差計算，排除資料中斷超過 2 分鐘的區間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駕駛：依 FAQ 以 enabledCode＋journeyCode 識別行程，假設一趟行程對應一位駕駛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模擬資料：駕駛姓名、任務與到點時間、準點率、客訴紀錄、油價，與原始資料分開存放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01000" y="1188720"/>
            <a:ext cx="3642055" cy="5029200"/>
          </a:xfrm>
          <a:prstGeom prst="roundRect">
            <a:avLst>
              <a:gd name="adj" fmla="val 2511"/>
            </a:avLst>
          </a:prstGeom>
          <a:solidFill>
            <a:srgbClr val="FBEFED"/>
          </a:solidFill>
          <a:ln w="9525">
            <a:solidFill>
              <a:srgbClr val="FBEF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56268" y="2377440"/>
            <a:ext cx="731520" cy="731520"/>
          </a:xfrm>
          <a:prstGeom prst="ellipse">
            <a:avLst/>
          </a:prstGeom>
          <a:solidFill>
            <a:srgbClr val="C8261C"/>
          </a:solidFill>
          <a:ln w="9525">
            <a:solidFill>
              <a:srgbClr val="C8261C"/>
            </a:solidFill>
            <a:prstDash val="solid"/>
          </a:ln>
        </p:spPr>
      </p:sp>
      <p:pic>
        <p:nvPicPr>
          <p:cNvPr id="10" name="Image 0" descr="/private/tmp/claude-501/-Users-yentso-developer-AI-Hackathon-HINO/a56bb6a9-f83a-48da-8d61-bd3b228250b5/scratchpad/deck/assets/i_da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1832" y="2553005"/>
            <a:ext cx="380390" cy="38039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001000" y="329184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影片與 GitHub 連結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703320"/>
            <a:ext cx="3642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（待補）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HINO Pilot 提案簡報</dc:title>
  <dc:subject>PptxGenJS Presentation</dc:subject>
  <dc:creator>PptxGenJS</dc:creator>
  <cp:lastModifiedBy>PptxGenJS</cp:lastModifiedBy>
  <cp:revision>1</cp:revision>
  <dcterms:created xsi:type="dcterms:W3CDTF">2026-10-08T09:56:33Z</dcterms:created>
  <dcterms:modified xsi:type="dcterms:W3CDTF">2026-10-08T09:56:33Z</dcterms:modified>
</cp:coreProperties>
</file>